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89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AFBA-D40A-F60E-4908-E1596F7EC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41B69-0E90-E791-4CC0-8AFEB6C3D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00405-FC8B-A6FE-A667-8DD2D6A3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2CB4-D3DE-4CBF-8626-FD5C9FA3088E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C8AA6-BC27-5245-4A1D-E4D572ED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1698A-4181-DAFD-C31C-93B5CAF6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F9D3-6273-4FBF-BD43-59B4327A5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7574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3E922-ADD1-70AA-0505-4A4DEF8F5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D9802-7467-4C3F-5676-CB6D8D392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B1768-1740-F7DB-DC5C-09911C358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2CB4-D3DE-4CBF-8626-FD5C9FA3088E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1FA77-D7F9-B0CD-E71B-E3404B0A2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5067-8884-B896-DBA0-78530B939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F9D3-6273-4FBF-BD43-59B4327A5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585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D140-E526-E2AF-540E-E31B65957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A575B-5F34-722E-0DDA-C486418D6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85E5F-2E57-0B74-E3AB-AA852517A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2CB4-D3DE-4CBF-8626-FD5C9FA3088E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4E7C5-D15C-96B8-4808-56DDDC6DE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82A83-0834-3B54-7C00-BEFE0DD69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F9D3-6273-4FBF-BD43-59B4327A5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860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88CBC-72F6-2E92-822B-4B6C03261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EE9C6-A11F-340F-B4EB-66D9E9D1C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FCAA9-A483-0A30-C3F8-57274F52B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D7CDE-1145-F9F1-5EEB-413E6322C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2CB4-D3DE-4CBF-8626-FD5C9FA3088E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79419-C1EF-AB57-28B1-B3F9C49B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AD215-C197-2A1A-C0CD-846813B7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F9D3-6273-4FBF-BD43-59B4327A5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07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4674-BDF4-321E-ACD1-9C3ABA648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4D132-74F5-897A-CCCC-21B64DDDE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41A82-590A-B6E6-9DD3-E49854546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E1383A-6EBB-CFD7-5CC9-2DF072700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F56E35-34F1-43F8-E1FA-4C2291E37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2A83D-FEC4-6D38-A177-ED8B7BC3E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2CB4-D3DE-4CBF-8626-FD5C9FA3088E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3BA688-0652-94B9-2721-A9AF75D0A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48FB3-3D8E-96B5-377A-2B698655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F9D3-6273-4FBF-BD43-59B4327A5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482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C2C8-DD54-076C-F78F-F9EC3A735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093A3F-B708-DAF5-0751-9D35210C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2CB4-D3DE-4CBF-8626-FD5C9FA3088E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4EB98-7864-B053-D706-5634BB58B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C6CFE-A8CA-B6C3-6E3F-1BCD43262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F9D3-6273-4FBF-BD43-59B4327A5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871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AFC64-4997-6337-9D44-984BCE747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2CB4-D3DE-4CBF-8626-FD5C9FA3088E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FEE576-66DC-7B6C-AB9E-04685F62B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21270-B4A1-28C9-ADD3-06D5032E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F9D3-6273-4FBF-BD43-59B4327A5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135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64272-D033-5AA8-56B4-48978D215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9AE6E-D4A5-EB9C-F0DE-A3CA77F4D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F8D49-FA3A-13BB-C97B-973A40A0B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3157A-7C61-C671-5B04-AE7829ADE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2CB4-D3DE-4CBF-8626-FD5C9FA3088E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9A266-6321-9E6A-3F68-AD2E05F1E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7473A-0087-3276-4368-CB6B97E5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F9D3-6273-4FBF-BD43-59B4327A5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504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110E5-927D-4C89-70C3-6AC9EDB39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02E8A6-2399-7661-CEDF-4B7576DEBE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B8D73-243F-9B73-FFF9-86F16BA4F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6A327-9D67-C806-83C5-DCCF15703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2CB4-D3DE-4CBF-8626-FD5C9FA3088E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CD948-C953-F534-0054-812799BC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A8414-BF47-2407-AF95-3D4D0FF8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F9D3-6273-4FBF-BD43-59B4327A5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823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DBD73-FBE5-06DA-F0EC-7A5AD2FA2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8CAFBF-EA4C-1E21-4D72-5A166A382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7EF51-7F8C-AF28-CC75-E79FF1D00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2CB4-D3DE-4CBF-8626-FD5C9FA3088E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59B58-5CBD-B89B-99C1-8B9E1AC1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A536B-F76B-762B-D8C4-71D16A8D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F9D3-6273-4FBF-BD43-59B4327A5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743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82DF81-83CD-958A-C05C-3B9E29380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E656C-C5C7-D98B-EA64-5CE56262B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9F740-7B80-C1A7-604E-A47CE97B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2CB4-D3DE-4CBF-8626-FD5C9FA3088E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B6C53-FACD-6320-236D-98DF1CF2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308C8-4C3E-26FB-0944-4BAEB0F7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EF9D3-6273-4FBF-BD43-59B4327A5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455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96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D02079-9443-6A51-7AD0-151D81816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B9DBD-2AD1-2A68-7550-345CA1012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9BCE0-F3CD-E072-9513-C441BA3650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62CB4-D3DE-4CBF-8626-FD5C9FA3088E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8AF65-55B9-5EBE-B695-684B43A79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820B6-E11E-7039-D44B-9EAE6CFE2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EF9D3-6273-4FBF-BD43-59B4327A5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3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084388"/>
            <a:ext cx="283173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2141041"/>
            <a:ext cx="321450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PERFORMANCE ANALYSIS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44713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Northwind Business Performance Analysis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32124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Favour Ubani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Data Analyst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883521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416877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comprehensive review of sales, products, customers, markets, employee performance, and shipping operations — designed to support informed executive decision-making.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3780"/>
            <a:ext cx="1828655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70434"/>
            <a:ext cx="221143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765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 Data Reveals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95064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spans sales revenue, product and category performance, customer and market dynamics, employee contribution, and shipping operations across the Northwind order history.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68104"/>
            <a:ext cx="5339820" cy="1442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479" y="2982516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Scale &amp; Scope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77479" y="3391198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~$1.35M total revenue across 809 orders, 91 customers, 77 products, and 8 categories.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768104"/>
            <a:ext cx="5339919" cy="1442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6305" y="2982516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Trend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506305" y="3391198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rose over the available period; April 1998 is the highest visible month at ~$121K.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399459"/>
            <a:ext cx="5339820" cy="17447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7479" y="4613870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Geographic Leaders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977479" y="5022552"/>
            <a:ext cx="48094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 ($261K) and Germany ($242K) dominate revenue. Concentration is high across markets, products, and customers.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4399459"/>
            <a:ext cx="5339919" cy="17447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06305" y="4613870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Operations &amp; Data Quality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6506305" y="5022552"/>
            <a:ext cx="48095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772 of 809 orders shipped on time. 21 OrderIDs in OrderDetails have no matching Orders record — a data-quality exception requiring reconciliation.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2520"/>
            <a:ext cx="1563549" cy="215305"/>
          </a:xfrm>
          <a:prstGeom prst="roundRect">
            <a:avLst>
              <a:gd name="adj" fmla="val 2212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674985"/>
            <a:ext cx="200307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PERFORMANCE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9029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KPIs at a Glance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332474" y="1563588"/>
            <a:ext cx="4025899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kern="0" spc="-11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$1.35M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661475" y="2181920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1475" y="2467074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all recorded orders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33223" y="1563588"/>
            <a:ext cx="4025998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kern="0" spc="-11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809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6162223" y="2181920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62223" y="2467074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Fulfilled across the period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32474" y="2948980"/>
            <a:ext cx="4025899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kern="0" spc="-11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89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661475" y="3567311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Purchasing Customers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1475" y="3852466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 of 91 total customers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33223" y="2948980"/>
            <a:ext cx="4025998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kern="0" spc="-11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~51K</a:t>
            </a:r>
            <a:endParaRPr lang="en-US" sz="3650" dirty="0"/>
          </a:p>
        </p:txBody>
      </p:sp>
      <p:sp>
        <p:nvSpPr>
          <p:cNvPr id="15" name="Text 13"/>
          <p:cNvSpPr/>
          <p:nvPr/>
        </p:nvSpPr>
        <p:spPr>
          <a:xfrm>
            <a:off x="6162223" y="3567311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Units Sold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62223" y="3852466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quantity across all products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32474" y="4334371"/>
            <a:ext cx="4025899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kern="0" spc="-11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$1.63K</a:t>
            </a:r>
            <a:endParaRPr lang="en-US" sz="3650" dirty="0"/>
          </a:p>
        </p:txBody>
      </p:sp>
      <p:sp>
        <p:nvSpPr>
          <p:cNvPr id="18" name="Text 16"/>
          <p:cNvSpPr/>
          <p:nvPr/>
        </p:nvSpPr>
        <p:spPr>
          <a:xfrm>
            <a:off x="661475" y="4952702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Avg. Order Value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1475" y="5237857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 per-order spend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33223" y="4334371"/>
            <a:ext cx="4025998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kern="0" spc="-11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77</a:t>
            </a:r>
            <a:endParaRPr lang="en-US" sz="3650" dirty="0"/>
          </a:p>
        </p:txBody>
      </p:sp>
      <p:sp>
        <p:nvSpPr>
          <p:cNvPr id="21" name="Text 19"/>
          <p:cNvSpPr/>
          <p:nvPr/>
        </p:nvSpPr>
        <p:spPr>
          <a:xfrm>
            <a:off x="6162223" y="4952702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Active Products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162223" y="5237857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8 categories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1475" y="5555853"/>
            <a:ext cx="10868745" cy="669627"/>
          </a:xfrm>
          <a:prstGeom prst="roundRect">
            <a:avLst>
              <a:gd name="adj" fmla="val 8892"/>
            </a:avLst>
          </a:prstGeom>
          <a:solidFill>
            <a:srgbClr val="DADBF1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56" y="5713214"/>
            <a:ext cx="177200" cy="14168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22037" y="5697538"/>
            <a:ext cx="1026650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is substantial and diversified, but concentration across leading products, customers, and markets — and 21 unmatched OrderIDs — warrant ongoing monitoring.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5384"/>
            <a:ext cx="1639846" cy="258465"/>
          </a:xfrm>
          <a:prstGeom prst="roundRect">
            <a:avLst>
              <a:gd name="adj" fmla="val 2211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586383"/>
            <a:ext cx="2045443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PERFORMANCE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5506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Growth &amp; Geographic Reach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769368"/>
            <a:ext cx="579105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Monthly Revenue Peaks (1998)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07320"/>
            <a:ext cx="5211930" cy="3577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73802" y="1769368"/>
            <a:ext cx="46626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Revenue Countries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802" y="2207320"/>
            <a:ext cx="4196352" cy="3184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73802" y="5564188"/>
            <a:ext cx="4662669" cy="620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Order Value: </a:t>
            </a:r>
            <a:r>
              <a:rPr lang="en-US" sz="105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~$1.63K</a:t>
            </a:r>
            <a:r>
              <a:rPr lang="en-US" sz="10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Sales growth is supported by strong market performance. Management should identify drivers of peak months and replicate effective patterns.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1612"/>
            <a:ext cx="1351028" cy="186630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708422"/>
            <a:ext cx="1813376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PERFORMANCE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90091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Leading Products, Categories &amp; Portfolio Risks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473597"/>
            <a:ext cx="58429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Products by Revenue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55378"/>
            <a:ext cx="3685785" cy="21001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3945334"/>
            <a:ext cx="58429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Categories by Revenue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227116"/>
            <a:ext cx="3580814" cy="18693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10403" y="1473597"/>
            <a:ext cx="472606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Low-Revenue Products — Under Review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0403" y="1755378"/>
          <a:ext cx="4726068" cy="1654528"/>
        </p:xfrm>
        <a:graphic>
          <a:graphicData uri="http://schemas.openxmlformats.org/drawingml/2006/table">
            <a:tbl>
              <a:tblPr/>
              <a:tblGrid>
                <a:gridCol w="2363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3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6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-19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-19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8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19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Chocolate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19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$1.54K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8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19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Gelatost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19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$1.71K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8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19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Genen Shoyu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19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$1.81K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8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19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Longlife Tofu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19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$2.56K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6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19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Laughing Lumberjack Lager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19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$2.56K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810403" y="3512443"/>
            <a:ext cx="4726068" cy="691356"/>
          </a:xfrm>
          <a:prstGeom prst="roundRect">
            <a:avLst>
              <a:gd name="adj" fmla="val 7464"/>
            </a:avLst>
          </a:prstGeom>
          <a:solidFill>
            <a:srgbClr val="FCF2B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233" y="3635970"/>
            <a:ext cx="153488" cy="1228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09550" y="3614936"/>
            <a:ext cx="4204091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Discontinued product strategy: limit new inventory investment, clear remaining stock, reduce replenishment, offer suitable alternatives, and review demand before any final discontinuation decision.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5610"/>
            <a:ext cx="2074910" cy="201116"/>
          </a:xfrm>
          <a:prstGeom prst="roundRect">
            <a:avLst>
              <a:gd name="adj" fmla="val 2210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635298"/>
            <a:ext cx="2525749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&amp; MARKET 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3373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Concentration Across Customers &amp; Markets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762820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Customers by Revenue Contribution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73672"/>
            <a:ext cx="3691044" cy="2656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4834731"/>
            <a:ext cx="5273047" cy="287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 contributors (Francisco Chang ~0.03%, John Steel ~0.04%, Yoshi Tannam ~0.05%) represent negligible revenue and merit targeted development.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263523" y="1762820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Markets: Revenue vs. Customer Count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523" y="2073672"/>
          <a:ext cx="5273046" cy="2474850"/>
        </p:xfrm>
        <a:graphic>
          <a:graphicData uri="http://schemas.openxmlformats.org/drawingml/2006/table">
            <a:tbl>
              <a:tblPr/>
              <a:tblGrid>
                <a:gridCol w="1757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Market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$261K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Germany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$242K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Austria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$129K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Brazil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$111K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Poland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$3.5K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Norway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$5.7K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Argentina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$7.7K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263523" y="4665464"/>
            <a:ext cx="5273047" cy="1492647"/>
          </a:xfrm>
          <a:prstGeom prst="roundRect">
            <a:avLst>
              <a:gd name="adj" fmla="val 3723"/>
            </a:avLst>
          </a:prstGeom>
          <a:solidFill>
            <a:srgbClr val="DADBF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778" y="4808637"/>
            <a:ext cx="165294" cy="1322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93328" y="4781848"/>
            <a:ext cx="4710987" cy="125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Austria's $129K from just 2 customers signals significant concentration risk. Lower-revenue markets represent untapped growth opportunity with targeted acquisition and promotions. Market performance varies not only by revenue but also by customer base. Austria generates approximately $129K from just 2 customers, while Italy generates $16.2K from 3 customers and Argentina generates $7.7K from 3 customers. This highlights differences in revenue concentration and customer value across markets.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8551"/>
            <a:ext cx="1367696" cy="201116"/>
          </a:xfrm>
          <a:prstGeom prst="roundRect">
            <a:avLst>
              <a:gd name="adj" fmla="val 2210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668238"/>
            <a:ext cx="1818535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INSIGHTS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6667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Employee Performance &amp; Shipping Operations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511598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Employee Performance — Orders, Revenue &amp; AOV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22450"/>
          <a:ext cx="5273048" cy="3095150"/>
        </p:xfrm>
        <a:graphic>
          <a:graphicData uri="http://schemas.openxmlformats.org/drawingml/2006/table">
            <a:tbl>
              <a:tblPr/>
              <a:tblGrid>
                <a:gridCol w="1318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8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8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Employee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Orders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 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AOV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Peacock, M.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17.9%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$1,607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Leverling, J.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$1,678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Davolio, N.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14.6%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$1,643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Fuller, A.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12.8%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$1,868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King, R.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69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10.0%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$1,973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Callahan, L.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9.6%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$1,298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Dodsworth, A.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6.1%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$1,955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Suyama, M.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5.7%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$1,182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Buchanan, 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5.6%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$1,799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61475" y="5034558"/>
            <a:ext cx="5273047" cy="287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0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Note:</a:t>
            </a:r>
            <a:r>
              <a:rPr lang="en-US" sz="8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Higher revenue does not automatically mean higher productivity. Evaluate order volume, revenue contribution,</a:t>
            </a:r>
            <a:endParaRPr lang="en-US" sz="800" dirty="0"/>
          </a:p>
        </p:txBody>
      </p:sp>
      <p:sp>
        <p:nvSpPr>
          <p:cNvPr id="6" name="Text 5"/>
          <p:cNvSpPr/>
          <p:nvPr/>
        </p:nvSpPr>
        <p:spPr>
          <a:xfrm>
            <a:off x="6263523" y="1511598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Shipping Performance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63523" y="1755279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Freight Cost by Shipper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523" y="2066131"/>
            <a:ext cx="3332278" cy="233362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1475" y="5510014"/>
            <a:ext cx="3561170" cy="719435"/>
          </a:xfrm>
          <a:prstGeom prst="roundRect">
            <a:avLst>
              <a:gd name="adj" fmla="val 77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00080" y="5648623"/>
            <a:ext cx="32839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772 On-Time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00080" y="5910858"/>
            <a:ext cx="32839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95.4% of all orders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315213" y="5510014"/>
            <a:ext cx="3561170" cy="719435"/>
          </a:xfrm>
          <a:prstGeom prst="roundRect">
            <a:avLst>
              <a:gd name="adj" fmla="val 77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53818" y="5648623"/>
            <a:ext cx="32839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37 Late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453818" y="5910858"/>
            <a:ext cx="32839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4.6% late shipment rate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968951" y="5510014"/>
            <a:ext cx="3561170" cy="719435"/>
          </a:xfrm>
          <a:prstGeom prst="roundRect">
            <a:avLst>
              <a:gd name="adj" fmla="val 77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07557" y="5648623"/>
            <a:ext cx="32839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Freight Costs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107557" y="5910858"/>
            <a:ext cx="32839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United Package $28K · Federal $20K · Speedy $16K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7126"/>
            <a:ext cx="1291002" cy="186630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693936"/>
            <a:ext cx="175335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BUSINESS INSIGHTS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75605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Evidence-Based Findings for Leadership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79339"/>
            <a:ext cx="10868745" cy="737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4586" y="1632744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45363" y="1514872"/>
            <a:ext cx="10149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Concentration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45363" y="1754684"/>
            <a:ext cx="10149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small set of products, customers, and markets drives the majority of revenue — creating both strength and dependency risk.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96207"/>
            <a:ext cx="10868745" cy="7370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4586" y="2449612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45363" y="2331740"/>
            <a:ext cx="10149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Geographic Leaders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45363" y="2571552"/>
            <a:ext cx="10149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 ($261K) and Germany ($242K) lead. Austria delivers $129K from just 2 customers — a notable concentration risk.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13075"/>
            <a:ext cx="10868745" cy="7370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4586" y="3266480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45363" y="3148608"/>
            <a:ext cx="10149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 Strength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245363" y="3388420"/>
            <a:ext cx="10149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Beverages ($281K) and Dairy Products ($248K) are the top two categories and should be protected and grown.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829943"/>
            <a:ext cx="10868745" cy="7370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4586" y="4083348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45363" y="3965476"/>
            <a:ext cx="10149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Peak Sales in Early 1998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245363" y="4205287"/>
            <a:ext cx="10149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1998 (~$121K) marks the highest visible month. Identifying and replicating those drivers is a key strategic opportunity.</a:t>
            </a:r>
            <a:endParaRPr lang="en-US" sz="9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46811"/>
            <a:ext cx="10868745" cy="7370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4586" y="4900216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245363" y="4782344"/>
            <a:ext cx="10149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Employee Performance Is Multi-Dimensional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245363" y="5022155"/>
            <a:ext cx="10149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volume, revenue share, and AOV vary significantly. Performance management requires all three metrics together.</a:t>
            </a:r>
            <a:endParaRPr lang="en-US" sz="9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463679"/>
            <a:ext cx="10868745" cy="7370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4586" y="5717084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1245363" y="5599212"/>
            <a:ext cx="10149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Shipping &amp; Data Quality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1245363" y="5839023"/>
            <a:ext cx="10149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95.4% of orders ship on time. However, 21 unmatched OrderIDs limit date-, customer-, and market-level analysis reliability.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0721"/>
            <a:ext cx="1549560" cy="258465"/>
          </a:xfrm>
          <a:prstGeom prst="roundRect">
            <a:avLst>
              <a:gd name="adj" fmla="val 2211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581720"/>
            <a:ext cx="1955156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5040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Actions for Management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61475" y="1783854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5221" y="1815703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kern="0" spc="-6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97243" y="1842294"/>
            <a:ext cx="469114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Protect Key Markets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97243" y="2261096"/>
            <a:ext cx="469114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retention and repeat-purchase strategies in USA and Germany. Deepen customer development in Austria given its high concentration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342977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5221" y="3374827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kern="0" spc="-6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97243" y="3401417"/>
            <a:ext cx="469114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Grow the Product Portfolio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97243" y="3820220"/>
            <a:ext cx="469114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leading categories through cross-selling and bundles. Review and clear low-revenue and discontinued products before new inventory allocation.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902101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5221" y="4933950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kern="0" spc="-6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97243" y="4960541"/>
            <a:ext cx="469114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Replicate Peak Performance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97243" y="5379343"/>
            <a:ext cx="469114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 Q1 1998 sales drivers and replicate the most effective customer/product combinations across other periods.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659" y="1783854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405" y="1815703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kern="0" spc="-6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45426" y="1842294"/>
            <a:ext cx="469114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Refine Performance Management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845426" y="2261096"/>
            <a:ext cx="469114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employees using order volume, revenue contribution, and AOV together — not revenue alone — for balanced insight.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659" y="3342977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405" y="3374827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kern="0" spc="-6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45426" y="3401417"/>
            <a:ext cx="469114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 Shipping Operations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845426" y="3820220"/>
            <a:ext cx="469114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shipper freight-cost differences, investigate late orders, and examine slower-shipping customer country patterns.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659" y="4902101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405" y="4933950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kern="0" spc="-6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45426" y="4960541"/>
            <a:ext cx="469114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Resolve Data Quality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845426" y="5379343"/>
            <a:ext cx="469114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Reconcile 21 unmatched OrderIDs in OrderDetails before relying on date-, customer-, or market-level analysis for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7694"/>
            <a:ext cx="842743" cy="201116"/>
          </a:xfrm>
          <a:prstGeom prst="roundRect">
            <a:avLst>
              <a:gd name="adj" fmla="val 2210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637381"/>
            <a:ext cx="1293582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35819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 Data Tells Us — and What to Do Next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61475" y="1492349"/>
            <a:ext cx="3482392" cy="1116409"/>
          </a:xfrm>
          <a:prstGeom prst="roundRect">
            <a:avLst>
              <a:gd name="adj" fmla="val 497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080" y="1630958"/>
            <a:ext cx="320518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Foundation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0080" y="1930202"/>
            <a:ext cx="320518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has a strong ~$1.35M base with clear growth over time, led by dominant markets, products, and customers.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72868" y="1492349"/>
            <a:ext cx="3370476" cy="1116409"/>
          </a:xfrm>
          <a:prstGeom prst="roundRect">
            <a:avLst>
              <a:gd name="adj" fmla="val 497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1473" y="1630958"/>
            <a:ext cx="309326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Strength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1473" y="1930202"/>
            <a:ext cx="309326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95.4% on-time shipping and a healthy $1.63K average order value confirm sound operational execution.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72345" y="1492349"/>
            <a:ext cx="3370476" cy="1116409"/>
          </a:xfrm>
          <a:prstGeom prst="roundRect">
            <a:avLst>
              <a:gd name="adj" fmla="val 497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10950" y="1630958"/>
            <a:ext cx="309326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Opportunities Ahead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0950" y="1930202"/>
            <a:ext cx="309326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development, inventory optimization, shipping efficiency, and data-quality resolution will unlock further value.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1475" y="2850158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149" y="3006427"/>
            <a:ext cx="7545397" cy="32537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830927" y="5643169"/>
            <a:ext cx="1711770" cy="213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4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Resolve Data Issues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830927" y="4889971"/>
            <a:ext cx="1711770" cy="213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4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 Performance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830927" y="4144382"/>
            <a:ext cx="1711770" cy="213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4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 Portfolio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830927" y="3391184"/>
            <a:ext cx="1711770" cy="213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4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Retain Customers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1078</Words>
  <Application>Microsoft Office PowerPoint</Application>
  <PresentationFormat>Widescreen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Inter</vt:lpstr>
      <vt:lpstr>Inter Bold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Ubani Favour</cp:lastModifiedBy>
  <cp:revision>2</cp:revision>
  <dcterms:created xsi:type="dcterms:W3CDTF">2026-09-23T13:10:09Z</dcterms:created>
  <dcterms:modified xsi:type="dcterms:W3CDTF">2026-09-27T13:41:17Z</dcterms:modified>
</cp:coreProperties>
</file>